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0"/>
  </p:notesMasterIdLst>
  <p:handoutMasterIdLst>
    <p:handoutMasterId r:id="rId21"/>
  </p:handoutMasterIdLst>
  <p:sldIdLst>
    <p:sldId id="280" r:id="rId2"/>
    <p:sldId id="366" r:id="rId3"/>
    <p:sldId id="380" r:id="rId4"/>
    <p:sldId id="383" r:id="rId5"/>
    <p:sldId id="384" r:id="rId6"/>
    <p:sldId id="400" r:id="rId7"/>
    <p:sldId id="385" r:id="rId8"/>
    <p:sldId id="386" r:id="rId9"/>
    <p:sldId id="387" r:id="rId10"/>
    <p:sldId id="388" r:id="rId11"/>
    <p:sldId id="389" r:id="rId12"/>
    <p:sldId id="390" r:id="rId13"/>
    <p:sldId id="391" r:id="rId14"/>
    <p:sldId id="392" r:id="rId15"/>
    <p:sldId id="393" r:id="rId16"/>
    <p:sldId id="394" r:id="rId17"/>
    <p:sldId id="395" r:id="rId18"/>
    <p:sldId id="281"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27" autoAdjust="0"/>
    <p:restoredTop sz="94364" autoAdjust="0"/>
  </p:normalViewPr>
  <p:slideViewPr>
    <p:cSldViewPr>
      <p:cViewPr>
        <p:scale>
          <a:sx n="66" d="100"/>
          <a:sy n="66" d="100"/>
        </p:scale>
        <p:origin x="2194" y="31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11/21/2024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509585-3D5D-D88F-AD7B-51748A998C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FC31AF-9157-9811-3B79-FEE948AE33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DE125A-0F70-DF2B-B0C1-51080593F551}"/>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179D2DA3-CF03-2358-EF95-BE47145483B1}"/>
              </a:ext>
            </a:extLst>
          </p:cNvPr>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17767666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148980"/>
            <a:chOff x="-14748" y="986564"/>
            <a:chExt cx="9158748" cy="5148980"/>
          </a:xfrm>
        </p:grpSpPr>
        <p:sp>
          <p:nvSpPr>
            <p:cNvPr id="22" name="TextBox 21"/>
            <p:cNvSpPr txBox="1"/>
            <p:nvPr/>
          </p:nvSpPr>
          <p:spPr>
            <a:xfrm>
              <a:off x="177781" y="4812105"/>
              <a:ext cx="4970283" cy="1323439"/>
            </a:xfrm>
            <a:prstGeom prst="rect">
              <a:avLst/>
            </a:prstGeom>
            <a:noFill/>
          </p:spPr>
          <p:txBody>
            <a:bodyPr wrap="square" rtlCol="0">
              <a:spAutoFit/>
            </a:bodyPr>
            <a:lstStyle/>
            <a:p>
              <a:r>
                <a:rPr lang="en-US" sz="2000" b="1" dirty="0"/>
                <a:t>ROLL NO : 220701214</a:t>
              </a:r>
            </a:p>
            <a:p>
              <a:r>
                <a:rPr lang="en-US" sz="2000" b="1" dirty="0"/>
                <a:t>NAME : RAJA HAREESH R G</a:t>
              </a:r>
            </a:p>
            <a:p>
              <a:r>
                <a:rPr lang="en-US" sz="2000" b="1" dirty="0"/>
                <a:t>FACULTY NAME : </a:t>
              </a:r>
              <a:r>
                <a:rPr lang="en-US" sz="2000" b="1" dirty="0" err="1"/>
                <a:t>Durai</a:t>
              </a:r>
              <a:r>
                <a:rPr lang="en-US" sz="2000" b="1" dirty="0"/>
                <a:t> </a:t>
              </a:r>
              <a:r>
                <a:rPr lang="en-US" sz="2000" b="1" dirty="0" err="1"/>
                <a:t>Murugan.N</a:t>
              </a:r>
              <a:endParaRPr lang="en-US" sz="2000" b="1" dirty="0"/>
            </a:p>
            <a:p>
              <a:r>
                <a:rPr lang="en-US" sz="2000" b="1" dirty="0"/>
                <a:t>DEPT :Computer Science and Engineering</a:t>
              </a:r>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38075" y="2475825"/>
                <a:ext cx="4188156" cy="1446550"/>
              </a:xfrm>
              <a:prstGeom prst="rect">
                <a:avLst/>
              </a:prstGeom>
              <a:noFill/>
            </p:spPr>
            <p:txBody>
              <a:bodyPr wrap="square" rtlCol="0">
                <a:spAutoFit/>
              </a:bodyPr>
              <a:lstStyle/>
              <a:p>
                <a:r>
                  <a:rPr lang="en-US" sz="4400" b="1" dirty="0">
                    <a:solidFill>
                      <a:schemeClr val="bg1"/>
                    </a:solidFill>
                    <a:ea typeface="Open Sans Bold" panose="020B0806030504020204" pitchFamily="34" charset="0"/>
                    <a:cs typeface="Open Sans Bold" panose="020B0806030504020204" pitchFamily="34" charset="0"/>
                  </a:rPr>
                  <a:t>Job Qualification</a:t>
                </a:r>
              </a:p>
              <a:p>
                <a:r>
                  <a:rPr lang="en-US" sz="4400" b="1" dirty="0">
                    <a:solidFill>
                      <a:schemeClr val="bg1"/>
                    </a:solidFill>
                    <a:ea typeface="Open Sans Bold" panose="020B0806030504020204" pitchFamily="34" charset="0"/>
                    <a:cs typeface="Open Sans Bold" panose="020B0806030504020204" pitchFamily="34" charset="0"/>
                  </a:rPr>
                  <a:t>Automation</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p:txBody>
          <a:bodyPr>
            <a:normAutofit/>
          </a:bodyPr>
          <a:lstStyle/>
          <a:p>
            <a:r>
              <a:rPr lang="en-US" dirty="0"/>
              <a:t>Efficient course scheduling is a critical yet complex task in academic institutions, often involving the balancing of various constraints, including faculty availability, student preferences, resource allocation, and curriculum requirements. Manual scheduling is time-intensive and prone to conflicts and inefficiencies. This project introduces </a:t>
            </a:r>
            <a:r>
              <a:rPr lang="en-US" b="1" dirty="0"/>
              <a:t>Course Scheduler Automation</a:t>
            </a:r>
            <a:r>
              <a:rPr lang="en-US" dirty="0"/>
              <a:t>, a system designed to streamline and optimize the scheduling process using advanced algorithms and automation techniques.</a:t>
            </a:r>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a:xfrm>
            <a:off x="0" y="914400"/>
            <a:ext cx="8763000" cy="5334000"/>
          </a:xfrm>
        </p:spPr>
        <p:txBody>
          <a:bodyPr>
            <a:normAutofit/>
          </a:bodyPr>
          <a:lstStyle/>
          <a:p>
            <a:r>
              <a:rPr lang="en-US" dirty="0"/>
              <a:t>Efficiency and Conflict </a:t>
            </a:r>
            <a:r>
              <a:rPr lang="en-US" dirty="0" err="1"/>
              <a:t>Resolution:Traditional</a:t>
            </a:r>
            <a:r>
              <a:rPr lang="en-US" dirty="0"/>
              <a:t> manual course scheduling is time-consuming and error-prone, often resulting in conflicts such as overlapping classes, resource shortages, or faculty overload. The proposed automated system ensures streamlined scheduling, minimizing conflicts and saving significant administrative time.</a:t>
            </a:r>
          </a:p>
          <a:p>
            <a:r>
              <a:rPr lang="en-US" b="1" dirty="0"/>
              <a:t>Scalability and Adaptability</a:t>
            </a:r>
            <a:r>
              <a:rPr lang="en-US" dirty="0"/>
              <a:t>: As institutions grow in size and complexity, manual scheduling struggles to accommodate diverse requirements like multiple departments, elective options, and varying faculty and student availability. The proposed system dynamically adapts to these challenges, ensuring scalable and flexible schedule management.	</a:t>
            </a: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p:txBody>
          <a:bodyPr/>
          <a:lstStyle/>
          <a:p>
            <a:r>
              <a:rPr lang="en-US" dirty="0"/>
              <a:t>The proposed </a:t>
            </a:r>
            <a:r>
              <a:rPr lang="en-US" b="1" dirty="0"/>
              <a:t>Course Scheduler Automation System</a:t>
            </a:r>
            <a:r>
              <a:rPr lang="en-US" dirty="0"/>
              <a:t> offers several advantages that significantly improve the scheduling process in academic institutions. First, it enhances </a:t>
            </a:r>
            <a:r>
              <a:rPr lang="en-US" b="1" dirty="0"/>
              <a:t>efficiency</a:t>
            </a:r>
            <a:r>
              <a:rPr lang="en-US" dirty="0"/>
              <a:t> by automating time-intensive tasks, reducing the workload on administrative staff, and enabling quicker generation of schedules. It ensures </a:t>
            </a:r>
            <a:r>
              <a:rPr lang="en-US" b="1" dirty="0"/>
              <a:t>accuracy</a:t>
            </a:r>
            <a:r>
              <a:rPr lang="en-US" dirty="0"/>
              <a:t> by minimizing human errors such as overlapping classes, double bookings, or exceeding resource capacities. The system provides </a:t>
            </a:r>
            <a:r>
              <a:rPr lang="en-US" b="1" dirty="0"/>
              <a:t>flexibility</a:t>
            </a:r>
            <a:r>
              <a:rPr lang="en-US" dirty="0"/>
              <a:t> to accommodate last-minute changes, such as faculty unavailability or room adjustments, without disrupting the entire schedule. </a:t>
            </a:r>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normAutofit fontScale="92500" lnSpcReduction="20000"/>
          </a:bodyPr>
          <a:lstStyle/>
          <a:p>
            <a:r>
              <a:rPr lang="en-US" b="1" dirty="0"/>
              <a:t>Paper 1 : </a:t>
            </a:r>
            <a:r>
              <a:rPr lang="en-US" b="1" i="1" dirty="0"/>
              <a:t>Automated Scheduling Systems: A Comprehensive Review</a:t>
            </a:r>
            <a:endParaRPr lang="en-US" b="1" dirty="0"/>
          </a:p>
          <a:p>
            <a:endParaRPr lang="en-US" b="1" dirty="0"/>
          </a:p>
          <a:p>
            <a:r>
              <a:rPr lang="en-US" b="1" dirty="0"/>
              <a:t>Advantage</a:t>
            </a:r>
            <a:r>
              <a:rPr lang="en-US" dirty="0"/>
              <a:t>:</a:t>
            </a:r>
          </a:p>
          <a:p>
            <a:pPr>
              <a:buFont typeface="Arial" panose="020B0604020202020204" pitchFamily="34" charset="0"/>
              <a:buChar char="•"/>
            </a:pPr>
            <a:r>
              <a:rPr lang="en-US" dirty="0"/>
              <a:t>Provides detailed insights into existing scheduling algorithms such as genetic algorithms and integer programming.</a:t>
            </a:r>
          </a:p>
          <a:p>
            <a:pPr>
              <a:buFont typeface="Arial" panose="020B0604020202020204" pitchFamily="34" charset="0"/>
              <a:buChar char="•"/>
            </a:pPr>
            <a:r>
              <a:rPr lang="en-US" dirty="0"/>
              <a:t>Highlights the importance of automation in reducing scheduling conflicts and improving resource utilization.</a:t>
            </a:r>
          </a:p>
          <a:p>
            <a:pPr>
              <a:buFont typeface="Arial" panose="020B0604020202020204" pitchFamily="34" charset="0"/>
              <a:buChar char="•"/>
            </a:pPr>
            <a:r>
              <a:rPr lang="en-US" dirty="0"/>
              <a:t>Demonstrates successful implementations in real-world institutions, showcasing significant time and cost savings.</a:t>
            </a:r>
          </a:p>
          <a:p>
            <a:r>
              <a:rPr lang="en-US" b="1" dirty="0"/>
              <a:t>Disadvantages</a:t>
            </a:r>
            <a:r>
              <a:rPr lang="en-US" dirty="0"/>
              <a:t>:</a:t>
            </a:r>
          </a:p>
          <a:p>
            <a:pPr>
              <a:buFont typeface="Arial" panose="020B0604020202020204" pitchFamily="34" charset="0"/>
              <a:buChar char="•"/>
            </a:pPr>
            <a:r>
              <a:rPr lang="en-US" dirty="0"/>
              <a:t>Limited focus on scalability for large institutions with highly diverse requirements.</a:t>
            </a:r>
          </a:p>
          <a:p>
            <a:pPr>
              <a:buFont typeface="Arial" panose="020B0604020202020204" pitchFamily="34" charset="0"/>
              <a:buChar char="•"/>
            </a:pPr>
            <a:r>
              <a:rPr lang="en-US" dirty="0"/>
              <a:t>Lack of flexibility in adapting to unique institutional policies and preferences.</a:t>
            </a:r>
          </a:p>
          <a:p>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CFA95B-6647-E34F-CC6C-3BDB7E5439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2B70C1-FC43-9B6C-CA06-5759405A074A}"/>
              </a:ext>
            </a:extLst>
          </p:cNvPr>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a:extLst>
              <a:ext uri="{FF2B5EF4-FFF2-40B4-BE49-F238E27FC236}">
                <a16:creationId xmlns:a16="http://schemas.microsoft.com/office/drawing/2014/main" id="{EE664E58-A67A-2C3D-5E16-D1B884F82D31}"/>
              </a:ext>
            </a:extLst>
          </p:cNvPr>
          <p:cNvSpPr>
            <a:spLocks noGrp="1"/>
          </p:cNvSpPr>
          <p:nvPr>
            <p:ph idx="1"/>
          </p:nvPr>
        </p:nvSpPr>
        <p:spPr/>
        <p:txBody>
          <a:bodyPr>
            <a:normAutofit lnSpcReduction="10000"/>
          </a:bodyPr>
          <a:lstStyle/>
          <a:p>
            <a:r>
              <a:rPr lang="en-US" dirty="0"/>
              <a:t>Paper 2 : AI-Based Approaches to Course Scheduling</a:t>
            </a:r>
          </a:p>
          <a:p>
            <a:r>
              <a:rPr lang="en-US" b="1" dirty="0"/>
              <a:t>Advantages</a:t>
            </a:r>
            <a:r>
              <a:rPr lang="en-US" dirty="0"/>
              <a:t>:</a:t>
            </a:r>
          </a:p>
          <a:p>
            <a:pPr>
              <a:buFont typeface="Arial" panose="020B0604020202020204" pitchFamily="34" charset="0"/>
              <a:buChar char="•"/>
            </a:pPr>
            <a:r>
              <a:rPr lang="en-US" dirty="0"/>
              <a:t>Explores the use of artificial intelligence and machine learning to predict and optimize scheduling.</a:t>
            </a:r>
          </a:p>
          <a:p>
            <a:pPr>
              <a:buFont typeface="Arial" panose="020B0604020202020204" pitchFamily="34" charset="0"/>
              <a:buChar char="•"/>
            </a:pPr>
            <a:r>
              <a:rPr lang="en-US" dirty="0"/>
              <a:t>Incorporates real-time adaptability, ensuring dynamic updates in response to changes.</a:t>
            </a:r>
          </a:p>
          <a:p>
            <a:pPr>
              <a:buFont typeface="Arial" panose="020B0604020202020204" pitchFamily="34" charset="0"/>
              <a:buChar char="•"/>
            </a:pPr>
            <a:r>
              <a:rPr lang="en-US" dirty="0"/>
              <a:t>Emphasizes improved stakeholder satisfaction by considering student and faculty preferences.</a:t>
            </a:r>
          </a:p>
          <a:p>
            <a:r>
              <a:rPr lang="en-US" b="1" dirty="0"/>
              <a:t>Disadvantages</a:t>
            </a:r>
            <a:r>
              <a:rPr lang="en-US" dirty="0"/>
              <a:t>:</a:t>
            </a:r>
          </a:p>
          <a:p>
            <a:pPr>
              <a:buFont typeface="Arial" panose="020B0604020202020204" pitchFamily="34" charset="0"/>
              <a:buChar char="•"/>
            </a:pPr>
            <a:r>
              <a:rPr lang="en-US" dirty="0"/>
              <a:t>High initial development and implementation costs.</a:t>
            </a:r>
          </a:p>
          <a:p>
            <a:pPr>
              <a:buFont typeface="Arial" panose="020B0604020202020204" pitchFamily="34" charset="0"/>
              <a:buChar char="•"/>
            </a:pPr>
            <a:r>
              <a:rPr lang="en-US" dirty="0"/>
              <a:t>Dependence on large datasets for accurate AI predictions, which may not always be available.</a:t>
            </a:r>
          </a:p>
          <a:p>
            <a:endParaRPr lang="en-US" dirty="0"/>
          </a:p>
          <a:p>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997183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lstStyle/>
          <a:p>
            <a:r>
              <a:rPr lang="en-US" dirty="0"/>
              <a:t>The primary objective of the </a:t>
            </a:r>
            <a:r>
              <a:rPr lang="en-US" b="1" dirty="0"/>
              <a:t>Course Scheduler Automation System</a:t>
            </a:r>
            <a:r>
              <a:rPr lang="en-US" dirty="0"/>
              <a:t> is to develop an efficient, user-friendly, and scalable solution that automates the generation of academic schedules while optimizing resource utilization. The system aims to eliminate scheduling conflicts, streamline administrative processes, and ensure compliance with institutional policies, thereby enhancing overall operational efficiency and satisfaction for faculty, students, and administrators.</a:t>
            </a:r>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5" name="Content Placeholder 4">
            <a:extLst>
              <a:ext uri="{FF2B5EF4-FFF2-40B4-BE49-F238E27FC236}">
                <a16:creationId xmlns:a16="http://schemas.microsoft.com/office/drawing/2014/main" id="{77972026-64F6-6CD7-AE45-EEACC3449175}"/>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2948186" y="990600"/>
            <a:ext cx="3247628" cy="5334000"/>
          </a:xfrm>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p:txBody>
          <a:bodyPr>
            <a:normAutofit fontScale="92500" lnSpcReduction="20000"/>
          </a:bodyPr>
          <a:lstStyle/>
          <a:p>
            <a:r>
              <a:rPr lang="en-US" b="1" dirty="0"/>
              <a:t>1. Hardware Requirements:</a:t>
            </a:r>
          </a:p>
          <a:p>
            <a:pPr>
              <a:buFont typeface="Arial" panose="020B0604020202020204" pitchFamily="34" charset="0"/>
              <a:buChar char="•"/>
            </a:pPr>
            <a:r>
              <a:rPr lang="en-US" b="1" dirty="0"/>
              <a:t>Processor</a:t>
            </a:r>
            <a:r>
              <a:rPr lang="en-US" dirty="0"/>
              <a:t>: Intel i5 or higher (or equivalent).</a:t>
            </a:r>
          </a:p>
          <a:p>
            <a:pPr>
              <a:buFont typeface="Arial" panose="020B0604020202020204" pitchFamily="34" charset="0"/>
              <a:buChar char="•"/>
            </a:pPr>
            <a:r>
              <a:rPr lang="en-US" b="1" dirty="0"/>
              <a:t>RAM</a:t>
            </a:r>
            <a:r>
              <a:rPr lang="en-US" dirty="0"/>
              <a:t>: Minimum 8 GB (16 GB recommended for larger datasets).</a:t>
            </a:r>
          </a:p>
          <a:p>
            <a:pPr>
              <a:buFont typeface="Arial" panose="020B0604020202020204" pitchFamily="34" charset="0"/>
              <a:buChar char="•"/>
            </a:pPr>
            <a:r>
              <a:rPr lang="en-US" b="1" dirty="0"/>
              <a:t>Storage</a:t>
            </a:r>
            <a:r>
              <a:rPr lang="en-US" dirty="0"/>
              <a:t>: At least 256 GB SSD for faster data processing.</a:t>
            </a:r>
          </a:p>
          <a:p>
            <a:pPr>
              <a:buFont typeface="Arial" panose="020B0604020202020204" pitchFamily="34" charset="0"/>
              <a:buChar char="•"/>
            </a:pPr>
            <a:r>
              <a:rPr lang="en-US" b="1" dirty="0"/>
              <a:t>Display</a:t>
            </a:r>
            <a:r>
              <a:rPr lang="en-US" dirty="0"/>
              <a:t>: Full HD (1920x1080) resolution or higher for better user interface experience.</a:t>
            </a:r>
          </a:p>
          <a:p>
            <a:pPr>
              <a:buFont typeface="Arial" panose="020B0604020202020204" pitchFamily="34" charset="0"/>
              <a:buChar char="•"/>
            </a:pPr>
            <a:r>
              <a:rPr lang="en-US" b="1" dirty="0"/>
              <a:t>Peripherals</a:t>
            </a:r>
            <a:r>
              <a:rPr lang="en-US" dirty="0"/>
              <a:t>: Keyboard, mouse, and optional printer for report generation.</a:t>
            </a:r>
          </a:p>
          <a:p>
            <a:r>
              <a:rPr lang="en-US" b="1" dirty="0"/>
              <a:t>2. Software Requirements:</a:t>
            </a:r>
          </a:p>
          <a:p>
            <a:pPr>
              <a:buFont typeface="Arial" panose="020B0604020202020204" pitchFamily="34" charset="0"/>
              <a:buChar char="•"/>
            </a:pPr>
            <a:r>
              <a:rPr lang="en-US" b="1" dirty="0"/>
              <a:t>Operating System</a:t>
            </a:r>
            <a:r>
              <a:rPr lang="en-US" dirty="0"/>
              <a:t>: Windows 10/11, macOS, or Linux.</a:t>
            </a:r>
          </a:p>
          <a:p>
            <a:pPr>
              <a:buFont typeface="Arial" panose="020B0604020202020204" pitchFamily="34" charset="0"/>
              <a:buChar char="•"/>
            </a:pPr>
            <a:r>
              <a:rPr lang="en-US" b="1" dirty="0"/>
              <a:t>Development Environment</a:t>
            </a:r>
            <a:r>
              <a:rPr lang="en-US" dirty="0"/>
              <a:t>: Visual Studio Code, Eclipse, or any IDE supporting Python/Java.</a:t>
            </a:r>
          </a:p>
          <a:p>
            <a:pPr>
              <a:buFont typeface="Arial" panose="020B0604020202020204" pitchFamily="34" charset="0"/>
              <a:buChar char="•"/>
            </a:pPr>
            <a:r>
              <a:rPr lang="en-US" b="1" dirty="0"/>
              <a:t>Database Management</a:t>
            </a:r>
            <a:r>
              <a:rPr lang="en-US" dirty="0"/>
              <a:t>: MySQL, PostgreSQL, or MongoDB for data storage.</a:t>
            </a:r>
          </a:p>
          <a:p>
            <a:pPr marL="0" indent="0">
              <a:buNone/>
            </a:pPr>
            <a:endParaRPr lang="en-US" dirty="0"/>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Functional Description</a:t>
            </a:r>
            <a:endParaRPr lang="en-IN" dirty="0">
              <a:latin typeface="+mj-lt"/>
            </a:endParaRPr>
          </a:p>
        </p:txBody>
      </p:sp>
      <p:sp>
        <p:nvSpPr>
          <p:cNvPr id="3" name="Content Placeholder 2"/>
          <p:cNvSpPr>
            <a:spLocks noGrp="1"/>
          </p:cNvSpPr>
          <p:nvPr>
            <p:ph idx="1"/>
          </p:nvPr>
        </p:nvSpPr>
        <p:spPr/>
        <p:txBody>
          <a:bodyPr/>
          <a:lstStyle/>
          <a:p>
            <a:r>
              <a:rPr lang="en-US" dirty="0"/>
              <a:t> Module 1:User Management</a:t>
            </a:r>
          </a:p>
          <a:p>
            <a:pPr marL="457200" lvl="1" indent="0">
              <a:buNone/>
            </a:pPr>
            <a:r>
              <a:rPr lang="en-US" dirty="0"/>
              <a:t>This module handles the registration, authentication, and role-based access control for users (admin, faculty, student). It allows users to create accounts, log in securely, update profiles, and manage roles and permissions within the system.</a:t>
            </a:r>
          </a:p>
          <a:p>
            <a:r>
              <a:rPr lang="en-US" dirty="0"/>
              <a:t>Module 2:Course and Schedule Management</a:t>
            </a:r>
          </a:p>
          <a:p>
            <a:pPr marL="0" indent="0">
              <a:buNone/>
            </a:pPr>
            <a:r>
              <a:rPr lang="en-US" dirty="0"/>
              <a:t>     This module allows administrators and faculty to create, update,          and manage courses and their schedules. It includes assigning rooms, faculty, and time slots to courses while ensuring conflict-free scheduling based on predefined constraints.</a:t>
            </a:r>
          </a:p>
          <a:p>
            <a:pPr marL="457200" lvl="1" indent="0">
              <a:buNone/>
            </a:pPr>
            <a:endParaRPr lang="en-US" dirty="0"/>
          </a:p>
          <a:p>
            <a:endParaRPr lang="en-US" dirty="0"/>
          </a:p>
        </p:txBody>
      </p:sp>
    </p:spTree>
    <p:custDataLst>
      <p:tags r:id="rId1"/>
    </p:custDataLst>
    <p:extLst>
      <p:ext uri="{BB962C8B-B14F-4D97-AF65-F5344CB8AC3E}">
        <p14:creationId xmlns:p14="http://schemas.microsoft.com/office/powerpoint/2010/main" val="7845066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Table Design</a:t>
            </a:r>
            <a:endParaRPr lang="en-IN" dirty="0">
              <a:latin typeface="+mj-lt"/>
            </a:endParaRPr>
          </a:p>
        </p:txBody>
      </p:sp>
      <p:graphicFrame>
        <p:nvGraphicFramePr>
          <p:cNvPr id="15" name="Content Placeholder 14">
            <a:extLst>
              <a:ext uri="{FF2B5EF4-FFF2-40B4-BE49-F238E27FC236}">
                <a16:creationId xmlns:a16="http://schemas.microsoft.com/office/drawing/2014/main" id="{67025514-6FD2-FCA4-8894-2382A7B1BD34}"/>
              </a:ext>
            </a:extLst>
          </p:cNvPr>
          <p:cNvGraphicFramePr>
            <a:graphicFrameLocks noGrp="1"/>
          </p:cNvGraphicFramePr>
          <p:nvPr>
            <p:ph idx="1"/>
            <p:extLst>
              <p:ext uri="{D42A27DB-BD31-4B8C-83A1-F6EECF244321}">
                <p14:modId xmlns:p14="http://schemas.microsoft.com/office/powerpoint/2010/main" val="584522172"/>
              </p:ext>
            </p:extLst>
          </p:nvPr>
        </p:nvGraphicFramePr>
        <p:xfrm>
          <a:off x="457200" y="914400"/>
          <a:ext cx="8229600" cy="3566160"/>
        </p:xfrm>
        <a:graphic>
          <a:graphicData uri="http://schemas.openxmlformats.org/drawingml/2006/table">
            <a:tbl>
              <a:tblPr/>
              <a:tblGrid>
                <a:gridCol w="2743200">
                  <a:extLst>
                    <a:ext uri="{9D8B030D-6E8A-4147-A177-3AD203B41FA5}">
                      <a16:colId xmlns:a16="http://schemas.microsoft.com/office/drawing/2014/main" val="169562284"/>
                    </a:ext>
                  </a:extLst>
                </a:gridCol>
                <a:gridCol w="2743200">
                  <a:extLst>
                    <a:ext uri="{9D8B030D-6E8A-4147-A177-3AD203B41FA5}">
                      <a16:colId xmlns:a16="http://schemas.microsoft.com/office/drawing/2014/main" val="4078181724"/>
                    </a:ext>
                  </a:extLst>
                </a:gridCol>
                <a:gridCol w="2743200">
                  <a:extLst>
                    <a:ext uri="{9D8B030D-6E8A-4147-A177-3AD203B41FA5}">
                      <a16:colId xmlns:a16="http://schemas.microsoft.com/office/drawing/2014/main" val="104498417"/>
                    </a:ext>
                  </a:extLst>
                </a:gridCol>
              </a:tblGrid>
              <a:tr h="269887">
                <a:tc>
                  <a:txBody>
                    <a:bodyPr/>
                    <a:lstStyle/>
                    <a:p>
                      <a:r>
                        <a:rPr lang="en-US" b="1" dirty="0"/>
                        <a:t>User table:</a:t>
                      </a:r>
                    </a:p>
                    <a:p>
                      <a:endParaRPr lang="en-US" b="1" dirty="0"/>
                    </a:p>
                    <a:p>
                      <a:r>
                        <a:rPr lang="en-US" b="1" dirty="0"/>
                        <a:t>Column Name</a:t>
                      </a:r>
                      <a:endParaRPr lang="en-US" dirty="0"/>
                    </a:p>
                  </a:txBody>
                  <a:tcPr anchor="ctr">
                    <a:lnL>
                      <a:noFill/>
                    </a:lnL>
                    <a:lnR>
                      <a:noFill/>
                    </a:lnR>
                    <a:lnT>
                      <a:noFill/>
                    </a:lnT>
                    <a:lnB>
                      <a:noFill/>
                    </a:lnB>
                    <a:noFill/>
                  </a:tcPr>
                </a:tc>
                <a:tc>
                  <a:txBody>
                    <a:bodyPr/>
                    <a:lstStyle/>
                    <a:p>
                      <a:r>
                        <a:rPr lang="en-US" b="1"/>
                        <a:t>Data Type</a:t>
                      </a:r>
                      <a:endParaRPr lang="en-US"/>
                    </a:p>
                  </a:txBody>
                  <a:tcPr anchor="ctr">
                    <a:lnL>
                      <a:noFill/>
                    </a:lnL>
                    <a:lnR>
                      <a:noFill/>
                    </a:lnR>
                    <a:lnT>
                      <a:noFill/>
                    </a:lnT>
                    <a:lnB>
                      <a:noFill/>
                    </a:lnB>
                    <a:noFill/>
                  </a:tcPr>
                </a:tc>
                <a:tc>
                  <a:txBody>
                    <a:bodyPr/>
                    <a:lstStyle/>
                    <a:p>
                      <a:r>
                        <a:rPr lang="en-US" b="1"/>
                        <a:t>Description</a:t>
                      </a:r>
                      <a:endParaRPr lang="en-US"/>
                    </a:p>
                  </a:txBody>
                  <a:tcPr anchor="ctr">
                    <a:lnL>
                      <a:noFill/>
                    </a:lnL>
                    <a:lnR>
                      <a:noFill/>
                    </a:lnR>
                    <a:lnT>
                      <a:noFill/>
                    </a:lnT>
                    <a:lnB>
                      <a:noFill/>
                    </a:lnB>
                    <a:noFill/>
                  </a:tcPr>
                </a:tc>
                <a:extLst>
                  <a:ext uri="{0D108BD9-81ED-4DB2-BD59-A6C34878D82A}">
                    <a16:rowId xmlns:a16="http://schemas.microsoft.com/office/drawing/2014/main" val="320597919"/>
                  </a:ext>
                </a:extLst>
              </a:tr>
              <a:tr h="472302">
                <a:tc>
                  <a:txBody>
                    <a:bodyPr/>
                    <a:lstStyle/>
                    <a:p>
                      <a:r>
                        <a:rPr lang="en-US"/>
                        <a:t>user_id</a:t>
                      </a:r>
                    </a:p>
                  </a:txBody>
                  <a:tcPr anchor="ctr">
                    <a:lnL>
                      <a:noFill/>
                    </a:lnL>
                    <a:lnR>
                      <a:noFill/>
                    </a:lnR>
                    <a:lnT>
                      <a:noFill/>
                    </a:lnT>
                    <a:lnB>
                      <a:noFill/>
                    </a:lnB>
                    <a:noFill/>
                  </a:tcPr>
                </a:tc>
                <a:tc>
                  <a:txBody>
                    <a:bodyPr/>
                    <a:lstStyle/>
                    <a:p>
                      <a:r>
                        <a:rPr lang="en-US"/>
                        <a:t>INT (Primary Key, Auto Increment)</a:t>
                      </a:r>
                    </a:p>
                  </a:txBody>
                  <a:tcPr anchor="ctr">
                    <a:lnL>
                      <a:noFill/>
                    </a:lnL>
                    <a:lnR>
                      <a:noFill/>
                    </a:lnR>
                    <a:lnT>
                      <a:noFill/>
                    </a:lnT>
                    <a:lnB>
                      <a:noFill/>
                    </a:lnB>
                    <a:noFill/>
                  </a:tcPr>
                </a:tc>
                <a:tc>
                  <a:txBody>
                    <a:bodyPr/>
                    <a:lstStyle/>
                    <a:p>
                      <a:r>
                        <a:rPr lang="en-US"/>
                        <a:t>Unique identifier for users.</a:t>
                      </a:r>
                    </a:p>
                  </a:txBody>
                  <a:tcPr anchor="ctr">
                    <a:lnL>
                      <a:noFill/>
                    </a:lnL>
                    <a:lnR>
                      <a:noFill/>
                    </a:lnR>
                    <a:lnT>
                      <a:noFill/>
                    </a:lnT>
                    <a:lnB>
                      <a:noFill/>
                    </a:lnB>
                    <a:noFill/>
                  </a:tcPr>
                </a:tc>
                <a:extLst>
                  <a:ext uri="{0D108BD9-81ED-4DB2-BD59-A6C34878D82A}">
                    <a16:rowId xmlns:a16="http://schemas.microsoft.com/office/drawing/2014/main" val="490334713"/>
                  </a:ext>
                </a:extLst>
              </a:tr>
              <a:tr h="269887">
                <a:tc>
                  <a:txBody>
                    <a:bodyPr/>
                    <a:lstStyle/>
                    <a:p>
                      <a:r>
                        <a:rPr lang="en-US"/>
                        <a:t>name</a:t>
                      </a:r>
                    </a:p>
                  </a:txBody>
                  <a:tcPr anchor="ctr">
                    <a:lnL>
                      <a:noFill/>
                    </a:lnL>
                    <a:lnR>
                      <a:noFill/>
                    </a:lnR>
                    <a:lnT>
                      <a:noFill/>
                    </a:lnT>
                    <a:lnB>
                      <a:noFill/>
                    </a:lnB>
                    <a:noFill/>
                  </a:tcPr>
                </a:tc>
                <a:tc>
                  <a:txBody>
                    <a:bodyPr/>
                    <a:lstStyle/>
                    <a:p>
                      <a:r>
                        <a:rPr lang="en-US"/>
                        <a:t>VARCHAR(100)</a:t>
                      </a:r>
                    </a:p>
                  </a:txBody>
                  <a:tcPr anchor="ctr">
                    <a:lnL>
                      <a:noFill/>
                    </a:lnL>
                    <a:lnR>
                      <a:noFill/>
                    </a:lnR>
                    <a:lnT>
                      <a:noFill/>
                    </a:lnT>
                    <a:lnB>
                      <a:noFill/>
                    </a:lnB>
                    <a:noFill/>
                  </a:tcPr>
                </a:tc>
                <a:tc>
                  <a:txBody>
                    <a:bodyPr/>
                    <a:lstStyle/>
                    <a:p>
                      <a:r>
                        <a:rPr lang="en-US"/>
                        <a:t>Full name of the user.</a:t>
                      </a:r>
                    </a:p>
                  </a:txBody>
                  <a:tcPr anchor="ctr">
                    <a:lnL>
                      <a:noFill/>
                    </a:lnL>
                    <a:lnR>
                      <a:noFill/>
                    </a:lnR>
                    <a:lnT>
                      <a:noFill/>
                    </a:lnT>
                    <a:lnB>
                      <a:noFill/>
                    </a:lnB>
                    <a:noFill/>
                  </a:tcPr>
                </a:tc>
                <a:extLst>
                  <a:ext uri="{0D108BD9-81ED-4DB2-BD59-A6C34878D82A}">
                    <a16:rowId xmlns:a16="http://schemas.microsoft.com/office/drawing/2014/main" val="4022133959"/>
                  </a:ext>
                </a:extLst>
              </a:tr>
              <a:tr h="472302">
                <a:tc>
                  <a:txBody>
                    <a:bodyPr/>
                    <a:lstStyle/>
                    <a:p>
                      <a:r>
                        <a:rPr lang="en-US"/>
                        <a:t>email</a:t>
                      </a:r>
                    </a:p>
                  </a:txBody>
                  <a:tcPr anchor="ctr">
                    <a:lnL>
                      <a:noFill/>
                    </a:lnL>
                    <a:lnR>
                      <a:noFill/>
                    </a:lnR>
                    <a:lnT>
                      <a:noFill/>
                    </a:lnT>
                    <a:lnB>
                      <a:noFill/>
                    </a:lnB>
                    <a:noFill/>
                  </a:tcPr>
                </a:tc>
                <a:tc>
                  <a:txBody>
                    <a:bodyPr/>
                    <a:lstStyle/>
                    <a:p>
                      <a:r>
                        <a:rPr lang="en-US" dirty="0"/>
                        <a:t>VARCHAR(150)</a:t>
                      </a:r>
                    </a:p>
                  </a:txBody>
                  <a:tcPr anchor="ctr">
                    <a:lnL>
                      <a:noFill/>
                    </a:lnL>
                    <a:lnR>
                      <a:noFill/>
                    </a:lnR>
                    <a:lnT>
                      <a:noFill/>
                    </a:lnT>
                    <a:lnB>
                      <a:noFill/>
                    </a:lnB>
                    <a:noFill/>
                  </a:tcPr>
                </a:tc>
                <a:tc>
                  <a:txBody>
                    <a:bodyPr/>
                    <a:lstStyle/>
                    <a:p>
                      <a:r>
                        <a:rPr lang="en-US"/>
                        <a:t>Email address for login and communication.</a:t>
                      </a:r>
                    </a:p>
                  </a:txBody>
                  <a:tcPr anchor="ctr">
                    <a:lnL>
                      <a:noFill/>
                    </a:lnL>
                    <a:lnR>
                      <a:noFill/>
                    </a:lnR>
                    <a:lnT>
                      <a:noFill/>
                    </a:lnT>
                    <a:lnB>
                      <a:noFill/>
                    </a:lnB>
                    <a:noFill/>
                  </a:tcPr>
                </a:tc>
                <a:extLst>
                  <a:ext uri="{0D108BD9-81ED-4DB2-BD59-A6C34878D82A}">
                    <a16:rowId xmlns:a16="http://schemas.microsoft.com/office/drawing/2014/main" val="414398765"/>
                  </a:ext>
                </a:extLst>
              </a:tr>
              <a:tr h="269887">
                <a:tc>
                  <a:txBody>
                    <a:bodyPr/>
                    <a:lstStyle/>
                    <a:p>
                      <a:r>
                        <a:rPr lang="en-US"/>
                        <a:t>password</a:t>
                      </a:r>
                    </a:p>
                  </a:txBody>
                  <a:tcPr anchor="ctr">
                    <a:lnL>
                      <a:noFill/>
                    </a:lnL>
                    <a:lnR>
                      <a:noFill/>
                    </a:lnR>
                    <a:lnT>
                      <a:noFill/>
                    </a:lnT>
                    <a:lnB>
                      <a:noFill/>
                    </a:lnB>
                    <a:noFill/>
                  </a:tcPr>
                </a:tc>
                <a:tc>
                  <a:txBody>
                    <a:bodyPr/>
                    <a:lstStyle/>
                    <a:p>
                      <a:r>
                        <a:rPr lang="en-US"/>
                        <a:t>VARCHAR(255)</a:t>
                      </a:r>
                    </a:p>
                  </a:txBody>
                  <a:tcPr anchor="ctr">
                    <a:lnL>
                      <a:noFill/>
                    </a:lnL>
                    <a:lnR>
                      <a:noFill/>
                    </a:lnR>
                    <a:lnT>
                      <a:noFill/>
                    </a:lnT>
                    <a:lnB>
                      <a:noFill/>
                    </a:lnB>
                    <a:noFill/>
                  </a:tcPr>
                </a:tc>
                <a:tc>
                  <a:txBody>
                    <a:bodyPr/>
                    <a:lstStyle/>
                    <a:p>
                      <a:r>
                        <a:rPr lang="en-US"/>
                        <a:t>Encrypted user password.</a:t>
                      </a:r>
                    </a:p>
                  </a:txBody>
                  <a:tcPr anchor="ctr">
                    <a:lnL>
                      <a:noFill/>
                    </a:lnL>
                    <a:lnR>
                      <a:noFill/>
                    </a:lnR>
                    <a:lnT>
                      <a:noFill/>
                    </a:lnT>
                    <a:lnB>
                      <a:noFill/>
                    </a:lnB>
                    <a:noFill/>
                  </a:tcPr>
                </a:tc>
                <a:extLst>
                  <a:ext uri="{0D108BD9-81ED-4DB2-BD59-A6C34878D82A}">
                    <a16:rowId xmlns:a16="http://schemas.microsoft.com/office/drawing/2014/main" val="3215350296"/>
                  </a:ext>
                </a:extLst>
              </a:tr>
              <a:tr h="472302">
                <a:tc>
                  <a:txBody>
                    <a:bodyPr/>
                    <a:lstStyle/>
                    <a:p>
                      <a:r>
                        <a:rPr lang="en-US"/>
                        <a:t>role</a:t>
                      </a:r>
                    </a:p>
                  </a:txBody>
                  <a:tcPr anchor="ctr">
                    <a:lnL>
                      <a:noFill/>
                    </a:lnL>
                    <a:lnR>
                      <a:noFill/>
                    </a:lnR>
                    <a:lnT>
                      <a:noFill/>
                    </a:lnT>
                    <a:lnB>
                      <a:noFill/>
                    </a:lnB>
                    <a:noFill/>
                  </a:tcPr>
                </a:tc>
                <a:tc>
                  <a:txBody>
                    <a:bodyPr/>
                    <a:lstStyle/>
                    <a:p>
                      <a:r>
                        <a:rPr lang="en-US"/>
                        <a:t>ENUM('admin', 'faculty', 'student')</a:t>
                      </a:r>
                    </a:p>
                  </a:txBody>
                  <a:tcPr anchor="ctr">
                    <a:lnL>
                      <a:noFill/>
                    </a:lnL>
                    <a:lnR>
                      <a:noFill/>
                    </a:lnR>
                    <a:lnT>
                      <a:noFill/>
                    </a:lnT>
                    <a:lnB>
                      <a:noFill/>
                    </a:lnB>
                    <a:noFill/>
                  </a:tcPr>
                </a:tc>
                <a:tc>
                  <a:txBody>
                    <a:bodyPr/>
                    <a:lstStyle/>
                    <a:p>
                      <a:r>
                        <a:rPr lang="en-US" dirty="0"/>
                        <a:t>Role of the user in the system.</a:t>
                      </a:r>
                    </a:p>
                  </a:txBody>
                  <a:tcPr anchor="ctr">
                    <a:lnL>
                      <a:noFill/>
                    </a:lnL>
                    <a:lnR>
                      <a:noFill/>
                    </a:lnR>
                    <a:lnT>
                      <a:noFill/>
                    </a:lnT>
                    <a:lnB>
                      <a:noFill/>
                    </a:lnB>
                    <a:noFill/>
                  </a:tcPr>
                </a:tc>
                <a:extLst>
                  <a:ext uri="{0D108BD9-81ED-4DB2-BD59-A6C34878D82A}">
                    <a16:rowId xmlns:a16="http://schemas.microsoft.com/office/drawing/2014/main" val="500408673"/>
                  </a:ext>
                </a:extLst>
              </a:tr>
            </a:tbl>
          </a:graphicData>
        </a:graphic>
      </p:graphicFrame>
      <p:sp>
        <p:nvSpPr>
          <p:cNvPr id="16" name="Rectangle 8">
            <a:extLst>
              <a:ext uri="{FF2B5EF4-FFF2-40B4-BE49-F238E27FC236}">
                <a16:creationId xmlns:a16="http://schemas.microsoft.com/office/drawing/2014/main" id="{DB8214AD-8207-E0AA-7EBE-8A34E1BC4693}"/>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1" i="0" u="none" strike="noStrike" cap="none" normalizeH="0" baseline="0">
                <a:ln>
                  <a:noFill/>
                </a:ln>
                <a:solidFill>
                  <a:schemeClr val="tx1"/>
                </a:solidFill>
                <a:effectLst/>
                <a:latin typeface="Arial" panose="020B0604020202020204" pitchFamily="34" charset="0"/>
              </a:rPr>
              <a:t>1. Users Table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16391693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3" name="Content Placeholder 2"/>
          <p:cNvSpPr>
            <a:spLocks noGrp="1"/>
          </p:cNvSpPr>
          <p:nvPr>
            <p:ph idx="1"/>
          </p:nvPr>
        </p:nvSpPr>
        <p:spPr/>
        <p:txBody>
          <a:bodyPr/>
          <a:lstStyle/>
          <a:p>
            <a:r>
              <a:rPr lang="en-US" dirty="0"/>
              <a:t>Main Process:</a:t>
            </a:r>
          </a:p>
          <a:p>
            <a:endParaRPr lang="en-US" dirty="0"/>
          </a:p>
          <a:p>
            <a:endParaRPr lang="en-US" dirty="0"/>
          </a:p>
        </p:txBody>
      </p:sp>
      <p:sp>
        <p:nvSpPr>
          <p:cNvPr id="6" name="Rectangle 3">
            <a:extLst>
              <a:ext uri="{FF2B5EF4-FFF2-40B4-BE49-F238E27FC236}">
                <a16:creationId xmlns:a16="http://schemas.microsoft.com/office/drawing/2014/main" id="{3247B455-9AAA-809C-7289-690246DCF849}"/>
              </a:ext>
            </a:extLst>
          </p:cNvPr>
          <p:cNvSpPr>
            <a:spLocks noChangeArrowheads="1"/>
          </p:cNvSpPr>
          <p:nvPr/>
        </p:nvSpPr>
        <p:spPr bwMode="auto">
          <a:xfrm>
            <a:off x="557554" y="1722218"/>
            <a:ext cx="8028892"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Data Collection</a:t>
            </a:r>
            <a:r>
              <a:rPr kumimoji="0" lang="en-US" altLang="en-US" sz="1800" b="0" i="0" u="none" strike="noStrike" cap="none" normalizeH="0" baseline="0" dirty="0">
                <a:ln>
                  <a:noFill/>
                </a:ln>
                <a:solidFill>
                  <a:schemeClr val="tx1"/>
                </a:solidFill>
                <a:effectLst/>
                <a:latin typeface="Arial" panose="020B0604020202020204" pitchFamily="34" charset="0"/>
              </a:rPr>
              <a:t>: Gather input data such as courses, faculty availability, room details, and student enrollment.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Constraint Definition</a:t>
            </a:r>
            <a:r>
              <a:rPr kumimoji="0" lang="en-US" altLang="en-US" sz="1800" b="0" i="0" u="none" strike="noStrike" cap="none" normalizeH="0" baseline="0" dirty="0">
                <a:ln>
                  <a:noFill/>
                </a:ln>
                <a:solidFill>
                  <a:schemeClr val="tx1"/>
                </a:solidFill>
                <a:effectLst/>
                <a:latin typeface="Arial" panose="020B0604020202020204" pitchFamily="34" charset="0"/>
              </a:rPr>
              <a:t>: Define scheduling constraints, such as non-overlapping courses, faculty load limits, room capacities, and department policies.</a:t>
            </a:r>
          </a:p>
          <a:p>
            <a:endParaRPr lang="en-US" dirty="0">
              <a:latin typeface="Arial" panose="020B0604020202020204" pitchFamily="34" charset="0"/>
            </a:endParaRPr>
          </a:p>
          <a:p>
            <a:r>
              <a:rPr lang="en-US" sz="2400" b="1" dirty="0"/>
              <a:t>Sub-Processes:</a:t>
            </a:r>
          </a:p>
          <a:p>
            <a:r>
              <a:rPr lang="en-US" b="1" dirty="0"/>
              <a:t> </a:t>
            </a:r>
            <a:r>
              <a:rPr lang="en-US" dirty="0"/>
              <a:t>User Management</a:t>
            </a:r>
          </a:p>
          <a:p>
            <a:pPr>
              <a:buFont typeface="Arial" panose="020B0604020202020204" pitchFamily="34" charset="0"/>
              <a:buChar char="•"/>
            </a:pPr>
            <a:r>
              <a:rPr lang="en-US" b="1" dirty="0"/>
              <a:t>Purpose</a:t>
            </a:r>
            <a:r>
              <a:rPr lang="en-US" dirty="0"/>
              <a:t>: Manage user accounts and roles (e.g., admin, faculty, student).</a:t>
            </a:r>
          </a:p>
          <a:p>
            <a:pPr>
              <a:buFont typeface="Arial" panose="020B0604020202020204" pitchFamily="34" charset="0"/>
              <a:buChar char="•"/>
            </a:pPr>
            <a:r>
              <a:rPr lang="en-US" b="1" dirty="0"/>
              <a:t>Steps</a:t>
            </a:r>
            <a:r>
              <a:rPr lang="en-US" dirty="0"/>
              <a:t>:</a:t>
            </a:r>
          </a:p>
          <a:p>
            <a:pPr marL="742950" lvl="1" indent="-285750">
              <a:buFont typeface="Arial" panose="020B0604020202020204" pitchFamily="34" charset="0"/>
              <a:buChar char="•"/>
            </a:pPr>
            <a:r>
              <a:rPr lang="en-US" dirty="0"/>
              <a:t>User registration and login.</a:t>
            </a:r>
          </a:p>
          <a:p>
            <a:pPr marL="742950" lvl="1" indent="-285750">
              <a:buFont typeface="Arial" panose="020B0604020202020204" pitchFamily="34" charset="0"/>
              <a:buChar char="•"/>
            </a:pPr>
            <a:r>
              <a:rPr lang="en-US" dirty="0"/>
              <a:t>Assign roles and permissions.</a:t>
            </a:r>
          </a:p>
          <a:p>
            <a:pPr marL="742950" lvl="1" indent="-285750">
              <a:buFont typeface="Arial" panose="020B0604020202020204" pitchFamily="34" charset="0"/>
              <a:buChar char="•"/>
            </a:pPr>
            <a:r>
              <a:rPr lang="en-US" dirty="0"/>
              <a:t>Manage profile updates.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3023427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sp>
        <p:nvSpPr>
          <p:cNvPr id="3" name="Content Placeholder 2"/>
          <p:cNvSpPr>
            <a:spLocks noGrp="1"/>
          </p:cNvSpPr>
          <p:nvPr>
            <p:ph idx="1"/>
          </p:nvPr>
        </p:nvSpPr>
        <p:spPr/>
        <p:txBody>
          <a:bodyPr>
            <a:normAutofit/>
          </a:bodyPr>
          <a:lstStyle/>
          <a:p>
            <a:pPr marL="0" indent="0">
              <a:buNone/>
            </a:pPr>
            <a:r>
              <a:rPr lang="en-US" dirty="0"/>
              <a:t>  </a:t>
            </a:r>
          </a:p>
        </p:txBody>
      </p:sp>
      <p:sp>
        <p:nvSpPr>
          <p:cNvPr id="4" name="Rectangle 1">
            <a:extLst>
              <a:ext uri="{FF2B5EF4-FFF2-40B4-BE49-F238E27FC236}">
                <a16:creationId xmlns:a16="http://schemas.microsoft.com/office/drawing/2014/main" id="{3E1D9243-B649-ECC7-E36D-B5FB3E85F921}"/>
              </a:ext>
            </a:extLst>
          </p:cNvPr>
          <p:cNvSpPr>
            <a:spLocks noChangeArrowheads="1"/>
          </p:cNvSpPr>
          <p:nvPr/>
        </p:nvSpPr>
        <p:spPr bwMode="auto">
          <a:xfrm>
            <a:off x="190390" y="1592796"/>
            <a:ext cx="852196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Collection</a:t>
            </a:r>
            <a:r>
              <a:rPr kumimoji="0" lang="en-US" altLang="en-US" sz="1800" b="0" i="0" u="none" strike="noStrike" cap="none" normalizeH="0" baseline="0" dirty="0">
                <a:ln>
                  <a:noFill/>
                </a:ln>
                <a:solidFill>
                  <a:schemeClr val="tx1"/>
                </a:solidFill>
                <a:effectLst/>
                <a:latin typeface="Arial" panose="020B0604020202020204" pitchFamily="34" charset="0"/>
              </a:rPr>
              <a:t>: Gather information on courses, faculty availability, room details, and student enrollments through user inputs via the interface.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Database Setup</a:t>
            </a:r>
            <a:r>
              <a:rPr kumimoji="0" lang="en-US" altLang="en-US" sz="1800" b="0" i="0" u="none" strike="noStrike" cap="none" normalizeH="0" baseline="0" dirty="0">
                <a:ln>
                  <a:noFill/>
                </a:ln>
                <a:solidFill>
                  <a:schemeClr val="tx1"/>
                </a:solidFill>
                <a:effectLst/>
                <a:latin typeface="Arial" panose="020B0604020202020204" pitchFamily="34" charset="0"/>
              </a:rPr>
              <a:t>: Create and configure a relational database to store user data, course schedules, room availability, and faculty assignments.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Constraint Definition</a:t>
            </a:r>
            <a:r>
              <a:rPr kumimoji="0" lang="en-US" altLang="en-US" sz="1800" b="0" i="0" u="none" strike="noStrike" cap="none" normalizeH="0" baseline="0" dirty="0">
                <a:ln>
                  <a:noFill/>
                </a:ln>
                <a:solidFill>
                  <a:schemeClr val="tx1"/>
                </a:solidFill>
                <a:effectLst/>
                <a:latin typeface="Arial" panose="020B0604020202020204" pitchFamily="34" charset="0"/>
              </a:rPr>
              <a:t>: Define rules for conflict-free scheduling, including time slots, faculty availability, room capacity, and course prerequisites.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Scheduling Algorithm</a:t>
            </a:r>
            <a:r>
              <a:rPr kumimoji="0" lang="en-US" altLang="en-US" sz="1800" b="0" i="0" u="none" strike="noStrike" cap="none" normalizeH="0" baseline="0" dirty="0">
                <a:ln>
                  <a:noFill/>
                </a:ln>
                <a:solidFill>
                  <a:schemeClr val="tx1"/>
                </a:solidFill>
                <a:effectLst/>
                <a:latin typeface="Arial" panose="020B0604020202020204" pitchFamily="34" charset="0"/>
              </a:rPr>
              <a:t>: Implement optimization algorithms (e.g., genetic algorithm, constraint satisfaction) to generate conflict-free and optimized schedules.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User Interface (UI)</a:t>
            </a:r>
            <a:r>
              <a:rPr kumimoji="0" lang="en-US" altLang="en-US" sz="1800" b="0" i="0" u="none" strike="noStrike" cap="none" normalizeH="0" baseline="0" dirty="0">
                <a:ln>
                  <a:noFill/>
                </a:ln>
                <a:solidFill>
                  <a:schemeClr val="tx1"/>
                </a:solidFill>
                <a:effectLst/>
                <a:latin typeface="Arial" panose="020B0604020202020204" pitchFamily="34" charset="0"/>
              </a:rPr>
              <a:t>: Develop an intuitive web or mobile interface for users to input data, view schedules, and interact with the system.</a:t>
            </a:r>
          </a:p>
        </p:txBody>
      </p:sp>
    </p:spTree>
    <p:custDataLst>
      <p:tags r:id="rId1"/>
    </p:custDataLst>
    <p:extLst>
      <p:ext uri="{BB962C8B-B14F-4D97-AF65-F5344CB8AC3E}">
        <p14:creationId xmlns:p14="http://schemas.microsoft.com/office/powerpoint/2010/main" val="1769472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p:cNvSpPr>
            <a:spLocks noGrp="1"/>
          </p:cNvSpPr>
          <p:nvPr>
            <p:ph idx="1"/>
          </p:nvPr>
        </p:nvSpPr>
        <p:spPr/>
        <p:txBody>
          <a:bodyPr/>
          <a:lstStyle/>
          <a:p>
            <a:pPr marL="0" indent="0">
              <a:buNone/>
            </a:pPr>
            <a:endParaRPr lang="en-US" dirty="0"/>
          </a:p>
          <a:p>
            <a:endParaRPr lang="en-US" dirty="0"/>
          </a:p>
        </p:txBody>
      </p:sp>
      <p:sp>
        <p:nvSpPr>
          <p:cNvPr id="4" name="Rectangle 1">
            <a:extLst>
              <a:ext uri="{FF2B5EF4-FFF2-40B4-BE49-F238E27FC236}">
                <a16:creationId xmlns:a16="http://schemas.microsoft.com/office/drawing/2014/main" id="{C681DD22-AC03-9F85-A659-52F7AD5A2296}"/>
              </a:ext>
            </a:extLst>
          </p:cNvPr>
          <p:cNvSpPr>
            <a:spLocks noChangeArrowheads="1"/>
          </p:cNvSpPr>
          <p:nvPr/>
        </p:nvSpPr>
        <p:spPr bwMode="auto">
          <a:xfrm rot="10800000" flipV="1">
            <a:off x="195454" y="1002288"/>
            <a:ext cx="875804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Unit Testing</a:t>
            </a:r>
            <a:r>
              <a:rPr kumimoji="0" lang="en-US" altLang="en-US" sz="1800" b="0" i="0" u="none" strike="noStrike" cap="none" normalizeH="0" baseline="0" dirty="0">
                <a:ln>
                  <a:noFill/>
                </a:ln>
                <a:solidFill>
                  <a:schemeClr val="tx1"/>
                </a:solidFill>
                <a:effectLst/>
                <a:latin typeface="Arial" panose="020B0604020202020204" pitchFamily="34" charset="0"/>
              </a:rPr>
              <a:t>: Test individual components (e.g., algorithms, database queries) for correctness.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Integration Testing</a:t>
            </a:r>
            <a:r>
              <a:rPr kumimoji="0" lang="en-US" altLang="en-US" sz="1800" b="0" i="0" u="none" strike="noStrike" cap="none" normalizeH="0" baseline="0" dirty="0">
                <a:ln>
                  <a:noFill/>
                </a:ln>
                <a:solidFill>
                  <a:schemeClr val="tx1"/>
                </a:solidFill>
                <a:effectLst/>
                <a:latin typeface="Arial" panose="020B0604020202020204" pitchFamily="34" charset="0"/>
              </a:rPr>
              <a:t>: Ensure different system components (UI, backend, database) work together seamlessly.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Functional Testing</a:t>
            </a:r>
            <a:r>
              <a:rPr kumimoji="0" lang="en-US" altLang="en-US" sz="1800" b="0" i="0" u="none" strike="noStrike" cap="none" normalizeH="0" baseline="0" dirty="0">
                <a:ln>
                  <a:noFill/>
                </a:ln>
                <a:solidFill>
                  <a:schemeClr val="tx1"/>
                </a:solidFill>
                <a:effectLst/>
                <a:latin typeface="Arial" panose="020B0604020202020204" pitchFamily="34" charset="0"/>
              </a:rPr>
              <a:t>: Validate that the system meets functional requirements, such as generating conflict-free schedules.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Performance Testing</a:t>
            </a:r>
            <a:r>
              <a:rPr kumimoji="0" lang="en-US" altLang="en-US" sz="1800" b="0" i="0" u="none" strike="noStrike" cap="none" normalizeH="0" baseline="0" dirty="0">
                <a:ln>
                  <a:noFill/>
                </a:ln>
                <a:solidFill>
                  <a:schemeClr val="tx1"/>
                </a:solidFill>
                <a:effectLst/>
                <a:latin typeface="Arial" panose="020B0604020202020204" pitchFamily="34" charset="0"/>
              </a:rPr>
              <a:t>: Test system performance under heavy loads and ensure scalability.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Usability Testing</a:t>
            </a:r>
            <a:r>
              <a:rPr kumimoji="0" lang="en-US" altLang="en-US" sz="1800" b="0" i="0" u="none" strike="noStrike" cap="none" normalizeH="0" baseline="0" dirty="0">
                <a:ln>
                  <a:noFill/>
                </a:ln>
                <a:solidFill>
                  <a:schemeClr val="tx1"/>
                </a:solidFill>
                <a:effectLst/>
                <a:latin typeface="Arial" panose="020B0604020202020204" pitchFamily="34" charset="0"/>
              </a:rPr>
              <a:t>: Ensure the system is user-friendly and easy to navigate for administrators, faculty, and students.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Security Testing</a:t>
            </a:r>
            <a:r>
              <a:rPr kumimoji="0" lang="en-US" altLang="en-US" sz="1800" b="0" i="0" u="none" strike="noStrike" cap="none" normalizeH="0" baseline="0" dirty="0">
                <a:ln>
                  <a:noFill/>
                </a:ln>
                <a:solidFill>
                  <a:schemeClr val="tx1"/>
                </a:solidFill>
                <a:effectLst/>
                <a:latin typeface="Arial" panose="020B0604020202020204" pitchFamily="34" charset="0"/>
              </a:rPr>
              <a:t>: Verify secure user authentication, data protection, and vulnerability management</a:t>
            </a:r>
          </a:p>
        </p:txBody>
      </p:sp>
    </p:spTree>
    <p:custDataLst>
      <p:tags r:id="rId1"/>
    </p:custDataLst>
    <p:extLst>
      <p:ext uri="{BB962C8B-B14F-4D97-AF65-F5344CB8AC3E}">
        <p14:creationId xmlns:p14="http://schemas.microsoft.com/office/powerpoint/2010/main" val="19213275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lstStyle/>
          <a:p>
            <a:r>
              <a:rPr lang="en-US" dirty="0"/>
              <a:t>The </a:t>
            </a:r>
            <a:r>
              <a:rPr lang="en-US" b="1" dirty="0"/>
              <a:t>Course Scheduler Automation System</a:t>
            </a:r>
            <a:r>
              <a:rPr lang="en-US" dirty="0"/>
              <a:t> offers a robust solution for managing the complexities of academic scheduling in educational institutions. By automating the process of course assignment, room allocation, and conflict resolution, the system significantly reduces the administrative burden, improves operational efficiency, and enhances the overall user experience for both faculty and students. Through the application of advanced algorithms, the system ensures optimized resource utilization and provides real-time adaptability to handle unforeseen changes, such as room unavailability or faculty adjustments.</a:t>
            </a:r>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lstStyle/>
          <a:p>
            <a:endParaRPr lang="en-US" dirty="0"/>
          </a:p>
          <a:p>
            <a:endParaRPr lang="en-US" dirty="0"/>
          </a:p>
          <a:p>
            <a:endParaRPr lang="en-US" dirty="0"/>
          </a:p>
        </p:txBody>
      </p:sp>
      <p:sp>
        <p:nvSpPr>
          <p:cNvPr id="4" name="Rectangle 1">
            <a:extLst>
              <a:ext uri="{FF2B5EF4-FFF2-40B4-BE49-F238E27FC236}">
                <a16:creationId xmlns:a16="http://schemas.microsoft.com/office/drawing/2014/main" id="{C28486A0-E660-6119-C1E6-F3D2BE4DDA33}"/>
              </a:ext>
            </a:extLst>
          </p:cNvPr>
          <p:cNvSpPr>
            <a:spLocks noChangeArrowheads="1"/>
          </p:cNvSpPr>
          <p:nvPr/>
        </p:nvSpPr>
        <p:spPr bwMode="auto">
          <a:xfrm>
            <a:off x="0" y="950917"/>
            <a:ext cx="895797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Integration with Learning Management Systems (LMS)</a:t>
            </a:r>
            <a:r>
              <a:rPr kumimoji="0" lang="en-US" altLang="en-US" sz="1800" b="0" i="0" u="none" strike="noStrike" cap="none" normalizeH="0" baseline="0" dirty="0">
                <a:ln>
                  <a:noFill/>
                </a:ln>
                <a:solidFill>
                  <a:schemeClr val="tx1"/>
                </a:solidFill>
                <a:effectLst/>
                <a:latin typeface="Arial" panose="020B0604020202020204" pitchFamily="34" charset="0"/>
              </a:rPr>
              <a:t>: Seamlessly connect with platforms like Moodle or Blackboard for real-time course content and schedule updates.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AI-Powered Schedule Optimization</a:t>
            </a:r>
            <a:r>
              <a:rPr kumimoji="0" lang="en-US" altLang="en-US" sz="1800" b="0" i="0" u="none" strike="noStrike" cap="none" normalizeH="0" baseline="0" dirty="0">
                <a:ln>
                  <a:noFill/>
                </a:ln>
                <a:solidFill>
                  <a:schemeClr val="tx1"/>
                </a:solidFill>
                <a:effectLst/>
                <a:latin typeface="Arial" panose="020B0604020202020204" pitchFamily="34" charset="0"/>
              </a:rPr>
              <a:t>: Implement machine learning to predict and optimize schedules based on historical data and usage patterns.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Mobile Application</a:t>
            </a:r>
            <a:r>
              <a:rPr kumimoji="0" lang="en-US" altLang="en-US" sz="1800" b="0" i="0" u="none" strike="noStrike" cap="none" normalizeH="0" baseline="0" dirty="0">
                <a:ln>
                  <a:noFill/>
                </a:ln>
                <a:solidFill>
                  <a:schemeClr val="tx1"/>
                </a:solidFill>
                <a:effectLst/>
                <a:latin typeface="Arial" panose="020B0604020202020204" pitchFamily="34" charset="0"/>
              </a:rPr>
              <a:t>: Develop a dedicated mobile app for students and faculty to view schedules, receive notifications, and make changes on-the-go.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Dynamic Resource Allocation</a:t>
            </a:r>
            <a:r>
              <a:rPr kumimoji="0" lang="en-US" altLang="en-US" sz="1800" b="0" i="0" u="none" strike="noStrike" cap="none" normalizeH="0" baseline="0" dirty="0">
                <a:ln>
                  <a:noFill/>
                </a:ln>
                <a:solidFill>
                  <a:schemeClr val="tx1"/>
                </a:solidFill>
                <a:effectLst/>
                <a:latin typeface="Arial" panose="020B0604020202020204" pitchFamily="34" charset="0"/>
              </a:rPr>
              <a:t>: Allow for automated resource adjustments (e.g., additional classrooms or faculty) based on real-time enrollment changes.</a:t>
            </a: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p:txBody>
      </p:sp>
      <p:sp>
        <p:nvSpPr>
          <p:cNvPr id="5" name="Rectangle 2">
            <a:extLst>
              <a:ext uri="{FF2B5EF4-FFF2-40B4-BE49-F238E27FC236}">
                <a16:creationId xmlns:a16="http://schemas.microsoft.com/office/drawing/2014/main" id="{91AF3C6F-95FE-EBED-FCB4-D0265D6C383B}"/>
              </a:ext>
            </a:extLst>
          </p:cNvPr>
          <p:cNvSpPr>
            <a:spLocks noChangeArrowheads="1"/>
          </p:cNvSpPr>
          <p:nvPr/>
        </p:nvSpPr>
        <p:spPr bwMode="auto">
          <a:xfrm>
            <a:off x="0" y="3537012"/>
            <a:ext cx="756033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Advanced Reporting Features</a:t>
            </a:r>
            <a:r>
              <a:rPr kumimoji="0" lang="en-US" altLang="en-US" sz="1800" b="0" i="0" u="none" strike="noStrike" cap="none" normalizeH="0" baseline="0" dirty="0">
                <a:ln>
                  <a:noFill/>
                </a:ln>
                <a:solidFill>
                  <a:schemeClr val="tx1"/>
                </a:solidFill>
                <a:effectLst/>
                <a:latin typeface="Arial" panose="020B0604020202020204" pitchFamily="34" charset="0"/>
              </a:rPr>
              <a:t>: Implement advanced analytics and reporting tools to track course demand, faculty workload, and resource usage.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Conflict-Free Student Scheduling</a:t>
            </a:r>
            <a:r>
              <a:rPr kumimoji="0" lang="en-US" altLang="en-US" sz="1800" b="0" i="0" u="none" strike="noStrike" cap="none" normalizeH="0" baseline="0" dirty="0">
                <a:ln>
                  <a:noFill/>
                </a:ln>
                <a:solidFill>
                  <a:schemeClr val="tx1"/>
                </a:solidFill>
                <a:effectLst/>
                <a:latin typeface="Arial" panose="020B0604020202020204" pitchFamily="34" charset="0"/>
              </a:rPr>
              <a:t>: Extend the system to automatically generate student schedules based on course availability, avoiding class overlaps.</a:t>
            </a:r>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4" name="Rectangle 1">
            <a:extLst>
              <a:ext uri="{FF2B5EF4-FFF2-40B4-BE49-F238E27FC236}">
                <a16:creationId xmlns:a16="http://schemas.microsoft.com/office/drawing/2014/main" id="{F415619D-1C0C-5DFB-C676-ED02BF8FD107}"/>
              </a:ext>
            </a:extLst>
          </p:cNvPr>
          <p:cNvSpPr>
            <a:spLocks noGrp="1" noChangeArrowheads="1"/>
          </p:cNvSpPr>
          <p:nvPr>
            <p:ph idx="1"/>
          </p:nvPr>
        </p:nvSpPr>
        <p:spPr bwMode="auto">
          <a:xfrm>
            <a:off x="0" y="898260"/>
            <a:ext cx="9379491"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Rosenkrantz, D. J., Stearns, R. E., &amp; Lewis, L. G. (1974).</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1" u="none" strike="noStrike" cap="none" normalizeH="0" baseline="0" dirty="0">
                <a:ln>
                  <a:noFill/>
                </a:ln>
                <a:solidFill>
                  <a:schemeClr val="tx1"/>
                </a:solidFill>
                <a:effectLst/>
                <a:latin typeface="Arial" panose="020B0604020202020204" pitchFamily="34" charset="0"/>
              </a:rPr>
              <a:t>The optimization of college course scheduling.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Journal of the ACM, 21(2), 163-177.</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This paper discusses early algorithms and approaches for course scheduling optimization.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Pal, R., &amp; Kumar, A. (2016).</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1" u="none" strike="noStrike" cap="none" normalizeH="0" baseline="0" dirty="0">
                <a:ln>
                  <a:noFill/>
                </a:ln>
                <a:solidFill>
                  <a:schemeClr val="tx1"/>
                </a:solidFill>
                <a:effectLst/>
                <a:latin typeface="Arial" panose="020B0604020202020204" pitchFamily="34" charset="0"/>
              </a:rPr>
              <a:t>A survey on course scheduling techniques in higher education.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Procedia Computer Science, 89, 670-674.</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This paper explores various course scheduling methods and optimization strategies.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Schneider, C., &amp; Salama, S. (2017).</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1" u="none" strike="noStrike" cap="none" normalizeH="0" baseline="0" dirty="0">
                <a:ln>
                  <a:noFill/>
                </a:ln>
                <a:solidFill>
                  <a:schemeClr val="tx1"/>
                </a:solidFill>
                <a:effectLst/>
                <a:latin typeface="Arial" panose="020B0604020202020204" pitchFamily="34" charset="0"/>
              </a:rPr>
              <a:t>Automated scheduling in educational institutions: A review of tools and systems.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International Journal of Computer Applications, 165(5), 23-29.</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 comprehensive review of current scheduling systems and the technologies used.</a:t>
            </a:r>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9250</TotalTime>
  <Words>1524</Words>
  <Application>Microsoft Office PowerPoint</Application>
  <PresentationFormat>On-screen Show (4:3)</PresentationFormat>
  <Paragraphs>136</Paragraphs>
  <Slides>18</Slides>
  <Notes>17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Open Sans Bold</vt:lpstr>
      <vt:lpstr>Open Sans Extrabold</vt:lpstr>
      <vt:lpstr>Open Sans Light</vt:lpstr>
      <vt:lpstr>Wingdings</vt:lpstr>
      <vt:lpstr>Office Theme</vt:lpstr>
      <vt:lpstr>PowerPoint Presentation</vt:lpstr>
      <vt:lpstr>Abstract</vt:lpstr>
      <vt:lpstr>Need for the Proposed System</vt:lpstr>
      <vt:lpstr>Advantages of the Proposed System</vt:lpstr>
      <vt:lpstr>Literature Survey</vt:lpstr>
      <vt:lpstr>Literature Survey</vt:lpstr>
      <vt:lpstr>Main Objective</vt:lpstr>
      <vt:lpstr>Architecture</vt:lpstr>
      <vt:lpstr>System Requirements</vt:lpstr>
      <vt:lpstr>Functional Description</vt:lpstr>
      <vt:lpstr>Table Design</vt:lpstr>
      <vt:lpstr>Process Design</vt:lpstr>
      <vt:lpstr>Implementation</vt:lpstr>
      <vt:lpstr>Testing</vt:lpstr>
      <vt:lpstr>Conclusions</vt:lpstr>
      <vt:lpstr>Future Enhancement</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Raja Hareesh</dc:creator>
  <cp:lastModifiedBy>raja hareesh</cp:lastModifiedBy>
  <cp:revision>1744</cp:revision>
  <dcterms:created xsi:type="dcterms:W3CDTF">2013-05-17T03:00:03Z</dcterms:created>
  <dcterms:modified xsi:type="dcterms:W3CDTF">2024-11-21T18:03:10Z</dcterms:modified>
</cp:coreProperties>
</file>